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4553A-18E4-4D81-B85C-4D4EF321F1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A0852-7288-48A1-9FE0-CA823066A2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Uncertainty</a:t>
            </a:r>
            <a:r>
              <a:rPr lang="zh-CN" altLang="en-US" dirty="0"/>
              <a:t>实验流程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张铄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Step.1</a:t>
            </a:r>
            <a:r>
              <a:rPr lang="zh-CN" altLang="en-US" dirty="0"/>
              <a:t> 指导语，在终端输入好被试信息后会进入提示语界面（需要用鼠标先点一下界面），充分理解后按空格键进入实验</a:t>
            </a: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49272" y="2083495"/>
            <a:ext cx="7893456" cy="383559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Step.2 </a:t>
            </a:r>
            <a:r>
              <a:rPr lang="zh-CN" altLang="en-US" dirty="0"/>
              <a:t>整个实验中，会有一定比例回合设置成不可以询问，在每回合开始时出现</a:t>
            </a: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46344" y="4128887"/>
            <a:ext cx="5099312" cy="224548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344" y="2032693"/>
            <a:ext cx="5099312" cy="1968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Step.3</a:t>
            </a:r>
            <a:r>
              <a:rPr lang="zh-CN" altLang="en-US" dirty="0"/>
              <a:t> 选择是否询问，有一定的决策时间，在上方出现“请选择”时，做出选择（按键）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4235" y="3217041"/>
            <a:ext cx="2146410" cy="1060505"/>
          </a:xfr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014" y="3064633"/>
            <a:ext cx="2540131" cy="1365320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3501412" y="3540760"/>
            <a:ext cx="389835" cy="360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958" y="2160332"/>
            <a:ext cx="2413124" cy="134626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958" y="4082380"/>
            <a:ext cx="2413124" cy="1477861"/>
          </a:xfrm>
          <a:prstGeom prst="rect">
            <a:avLst/>
          </a:prstGeom>
        </p:spPr>
      </p:pic>
      <p:sp>
        <p:nvSpPr>
          <p:cNvPr id="15" name="箭头: 右 14"/>
          <p:cNvSpPr/>
          <p:nvPr/>
        </p:nvSpPr>
        <p:spPr>
          <a:xfrm rot="19554733">
            <a:off x="6585987" y="2841684"/>
            <a:ext cx="526006" cy="3329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/>
        </p:nvSpPr>
        <p:spPr>
          <a:xfrm rot="1633077">
            <a:off x="6571942" y="4263501"/>
            <a:ext cx="526006" cy="3329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Step.4 </a:t>
            </a:r>
            <a:r>
              <a:rPr lang="zh-CN" altLang="en-US" dirty="0"/>
              <a:t>选择是否询问的结果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55451" y="2166123"/>
            <a:ext cx="1689187" cy="825542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451" y="3204898"/>
            <a:ext cx="1689187" cy="89738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450" y="4551679"/>
            <a:ext cx="1709509" cy="11221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Step.5 </a:t>
            </a:r>
            <a:r>
              <a:rPr lang="zh-CN" altLang="en-US" dirty="0"/>
              <a:t>选择要探索的道路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337" y="2599519"/>
            <a:ext cx="5183023" cy="321590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146" y="1310266"/>
            <a:ext cx="3756165" cy="25785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146" y="4068327"/>
            <a:ext cx="3756165" cy="2708393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 rot="19802983">
            <a:off x="5994400" y="2946400"/>
            <a:ext cx="906257" cy="482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/>
          <p:cNvSpPr/>
          <p:nvPr/>
        </p:nvSpPr>
        <p:spPr>
          <a:xfrm rot="1607003">
            <a:off x="5994400" y="4914523"/>
            <a:ext cx="906257" cy="482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Step.6</a:t>
            </a:r>
            <a:r>
              <a:rPr lang="zh-CN" altLang="en-US" dirty="0"/>
              <a:t> 探索结果（获得的苹果数量）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86137" y="2647910"/>
            <a:ext cx="3410125" cy="1562180"/>
          </a:xfrm>
        </p:spPr>
      </p:pic>
      <p:sp>
        <p:nvSpPr>
          <p:cNvPr id="3" name="文本框 2"/>
          <p:cNvSpPr txBox="1"/>
          <p:nvPr/>
        </p:nvSpPr>
        <p:spPr>
          <a:xfrm>
            <a:off x="1114425" y="2720340"/>
            <a:ext cx="647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+0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114425" y="3088640"/>
            <a:ext cx="647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+3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114425" y="3402965"/>
            <a:ext cx="647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+6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14425" y="3868420"/>
            <a:ext cx="647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+9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114425" y="4333875"/>
            <a:ext cx="647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+12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Step.7 </a:t>
            </a:r>
            <a:r>
              <a:rPr lang="zh-CN" altLang="en-US" dirty="0"/>
              <a:t>总共获得的苹果数量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75761" y="2723454"/>
            <a:ext cx="2808640" cy="159028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日期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11.18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11.19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11.20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11.21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上午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AM9:00-10:40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AM9:00-10:40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AM9:00-10:40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下午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PM2:00-3:40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PM1:00-2:40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PM1:00-2:40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PM3:50-5:30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PM3:00-4:40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PM3:00-4:40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PM5:00-6:40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PM5:00-6:40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晚上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PM6:30-8:10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" y="2940685"/>
            <a:ext cx="2491740" cy="1553210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530" y="2445385"/>
            <a:ext cx="2486025" cy="1553845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2004060"/>
            <a:ext cx="2486025" cy="1553845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75" y="1602105"/>
            <a:ext cx="2664460" cy="1664970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155" y="1132840"/>
            <a:ext cx="2486025" cy="1553845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cxnSp>
        <p:nvCxnSpPr>
          <p:cNvPr id="13" name="直接箭头连接符 12"/>
          <p:cNvCxnSpPr/>
          <p:nvPr/>
        </p:nvCxnSpPr>
        <p:spPr>
          <a:xfrm flipV="1">
            <a:off x="2143760" y="3183255"/>
            <a:ext cx="9937750" cy="200533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096135" y="5140960"/>
            <a:ext cx="95250" cy="952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389755" y="4685030"/>
            <a:ext cx="95250" cy="952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593205" y="4217670"/>
            <a:ext cx="95250" cy="952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852535" y="3761105"/>
            <a:ext cx="95250" cy="952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0914380" y="3357880"/>
            <a:ext cx="95250" cy="952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936875" y="5140960"/>
            <a:ext cx="889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2s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35855" y="4685030"/>
            <a:ext cx="1438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2s + max(2s)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94880" y="4217670"/>
            <a:ext cx="890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2s 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57030" y="3849370"/>
            <a:ext cx="1438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2s + max(2s)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313795" y="3453130"/>
            <a:ext cx="673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2s 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7940" y="2250440"/>
            <a:ext cx="889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Cue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191385" y="1753870"/>
            <a:ext cx="1537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First choice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92875" y="884555"/>
            <a:ext cx="1836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Second choice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411980" y="1329055"/>
            <a:ext cx="1836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Result (context)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33155" y="487680"/>
            <a:ext cx="1836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HoloLens MDL2 Assets" panose="050A0102010101010101" charset="0"/>
                <a:cs typeface="HoloLens MDL2 Assets" panose="050A0102010101010101" charset="0"/>
              </a:rPr>
              <a:t>Result (reward)</a:t>
            </a:r>
            <a:endParaRPr lang="en-US" altLang="zh-CN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880" y="2454910"/>
            <a:ext cx="2470150" cy="1544320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3570" y="2036445"/>
            <a:ext cx="2459990" cy="1538605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8430" y="1653540"/>
            <a:ext cx="2674620" cy="1672590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ifas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5" y="4997450"/>
            <a:ext cx="2362200" cy="952500"/>
          </a:xfrm>
          <a:prstGeom prst="rect">
            <a:avLst/>
          </a:prstGeom>
        </p:spPr>
      </p:pic>
      <p:pic>
        <p:nvPicPr>
          <p:cNvPr id="6" name="图片 5" descr="contex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" y="1782445"/>
            <a:ext cx="1000125" cy="438150"/>
          </a:xfrm>
          <a:prstGeom prst="rect">
            <a:avLst/>
          </a:prstGeom>
        </p:spPr>
      </p:pic>
      <p:pic>
        <p:nvPicPr>
          <p:cNvPr id="10" name="图片 9" descr="plus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5" y="4133850"/>
            <a:ext cx="1114425" cy="4476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15315" y="2559685"/>
            <a:ext cx="1915795" cy="460375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37000">
                <a:schemeClr val="tx1"/>
              </a:gs>
            </a:gsLst>
            <a:lin ang="5400000" scaled="0"/>
          </a:gradFill>
          <a:effectLst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HoloLens MDL2 Assets" panose="050A0102010101010101" charset="0"/>
                <a:cs typeface="HoloLens MDL2 Assets" panose="050A0102010101010101" charset="0"/>
              </a:rPr>
              <a:t>Do you ask ?</a:t>
            </a:r>
            <a:endParaRPr lang="en-US" altLang="zh-CN" sz="2400">
              <a:solidFill>
                <a:schemeClr val="bg1"/>
              </a:solidFill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9720" y="3077845"/>
            <a:ext cx="1115695" cy="414020"/>
          </a:xfrm>
          <a:prstGeom prst="rect">
            <a:avLst/>
          </a:prstGeom>
          <a:solidFill>
            <a:srgbClr val="FF0000"/>
          </a:solidFill>
          <a:effectLst/>
        </p:spPr>
        <p:txBody>
          <a:bodyPr wrap="square" rtlCol="0">
            <a:noAutofit/>
          </a:bodyPr>
          <a:p>
            <a:pPr algn="ctr"/>
            <a:r>
              <a:rPr lang="en-US" altLang="zh-CN" sz="2400">
                <a:solidFill>
                  <a:schemeClr val="bg1"/>
                </a:solidFill>
                <a:latin typeface="HoloLens MDL2 Assets" panose="050A0102010101010101" charset="0"/>
                <a:cs typeface="HoloLens MDL2 Assets" panose="050A0102010101010101" charset="0"/>
              </a:rPr>
              <a:t>No</a:t>
            </a:r>
            <a:endParaRPr lang="en-US" altLang="zh-CN" sz="2400">
              <a:solidFill>
                <a:schemeClr val="bg1"/>
              </a:solidFill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00860" y="3077845"/>
            <a:ext cx="1115695" cy="414020"/>
          </a:xfrm>
          <a:prstGeom prst="rect">
            <a:avLst/>
          </a:prstGeom>
          <a:solidFill>
            <a:srgbClr val="92D050"/>
          </a:solidFill>
          <a:effectLst/>
        </p:spPr>
        <p:txBody>
          <a:bodyPr wrap="square" rtlCol="0">
            <a:noAutofit/>
          </a:bodyPr>
          <a:p>
            <a:pPr algn="ctr"/>
            <a:r>
              <a:rPr lang="en-US" altLang="zh-CN" sz="2400">
                <a:solidFill>
                  <a:schemeClr val="bg1"/>
                </a:solidFill>
                <a:latin typeface="HoloLens MDL2 Assets" panose="050A0102010101010101" charset="0"/>
                <a:cs typeface="HoloLens MDL2 Assets" panose="050A0102010101010101" charset="0"/>
              </a:rPr>
              <a:t>Yes</a:t>
            </a:r>
            <a:endParaRPr lang="en-US" altLang="zh-CN" sz="2400">
              <a:solidFill>
                <a:schemeClr val="bg1"/>
              </a:solidFill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69975" y="652145"/>
            <a:ext cx="1512570" cy="460375"/>
          </a:xfrm>
          <a:prstGeom prst="rect">
            <a:avLst/>
          </a:prstGeom>
          <a:solidFill>
            <a:srgbClr val="92D050"/>
          </a:solidFill>
          <a:ln w="44450" cmpd="sng">
            <a:solidFill>
              <a:schemeClr val="bg1"/>
            </a:solidFill>
            <a:prstDash val="solid"/>
          </a:ln>
          <a:effectLst>
            <a:innerShdw blurRad="152400" dist="50800" dir="81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 extrusionH="38100"/>
        </p:spPr>
        <p:txBody>
          <a:bodyPr wrap="square" rtlCol="0">
            <a:spAutoFit/>
          </a:bodyPr>
          <a:p>
            <a:r>
              <a:rPr lang="en-US" altLang="zh-CN" sz="24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loLens MDL2 Assets" panose="050A0102010101010101" charset="0"/>
                <a:cs typeface="HoloLens MDL2 Assets" panose="050A0102010101010101" charset="0"/>
              </a:rPr>
              <a:t>Context 1</a:t>
            </a:r>
            <a:endParaRPr lang="en-US" altLang="zh-CN" sz="24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  <p:pic>
        <p:nvPicPr>
          <p:cNvPr id="16" name="图片 15" descr="L_contex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080" y="1638300"/>
            <a:ext cx="5610225" cy="35814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608060" y="1720850"/>
            <a:ext cx="1125855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600" b="1">
                <a:latin typeface="HoloLens MDL2 Assets" panose="050A0102010101010101" charset="0"/>
                <a:cs typeface="HoloLens MDL2 Assets" panose="050A0102010101010101" charset="0"/>
              </a:rPr>
              <a:t>Context 1</a:t>
            </a:r>
            <a:endParaRPr lang="en-US" altLang="zh-CN" sz="1600" b="1">
              <a:latin typeface="HoloLens MDL2 Assets" panose="050A0102010101010101" charset="0"/>
              <a:cs typeface="HoloLens MDL2 Assets" panose="050A0102010101010101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a43a61d-e2e5-46a3-b8dc-14da1d7af062"/>
  <p:tag name="COMMONDATA" val="eyJoZGlkIjoiMTQ4ODI3ZDY2ODk4OTM1YWRjMWY0YmZjMzM4ZmExY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WPS 演示</Application>
  <PresentationFormat>宽屏</PresentationFormat>
  <Paragraphs>98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HoloLens MDL2 Assets</vt:lpstr>
      <vt:lpstr>等线 Light</vt:lpstr>
      <vt:lpstr>等线</vt:lpstr>
      <vt:lpstr>微软雅黑</vt:lpstr>
      <vt:lpstr>Calibri</vt:lpstr>
      <vt:lpstr>Arial Unicode MS</vt:lpstr>
      <vt:lpstr>Office 主题​​</vt:lpstr>
      <vt:lpstr>Uncertainty实验流程</vt:lpstr>
      <vt:lpstr>Step.1 指导语，在终端输入好被试信息后会进入提示语界面（需要用鼠标先点一下界面），充分理解后按空格键进入实验</vt:lpstr>
      <vt:lpstr>Step.2 整个实验中，会有一定比例回合设置成不可以询问，在每回合开始时出现</vt:lpstr>
      <vt:lpstr>Step.3 选择是否询问，有一定的决策时间，在上方出现“请选择”时，做出选择（按键）</vt:lpstr>
      <vt:lpstr>Step.4 选择是否询问的结果</vt:lpstr>
      <vt:lpstr>Step.5 选择要探索的道路</vt:lpstr>
      <vt:lpstr>Step.6 探索结果（获得的苹果数量）</vt:lpstr>
      <vt:lpstr>Step.7 总共获得的苹果数量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Uncertainty实验流程</dc:title>
  <dc:creator>张 铄</dc:creator>
  <cp:lastModifiedBy>小空空</cp:lastModifiedBy>
  <cp:revision>5</cp:revision>
  <dcterms:created xsi:type="dcterms:W3CDTF">2021-11-12T01:32:00Z</dcterms:created>
  <dcterms:modified xsi:type="dcterms:W3CDTF">2022-11-26T10:38:12Z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A3F4A7D4E79446258698A16B47A59966</vt:lpwstr>
  </property>
  <property fmtid="{D5CDD505-2E9C-101B-9397-08002B2CF9AE}" pid="3" name="KSOProductBuildVer">
    <vt:lpwstr>2052-11.1.0.12763</vt:lpwstr>
  </property>
</Properties>
</file>